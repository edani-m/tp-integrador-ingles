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rimo" panose="020B0604020202020204" charset="0"/>
      <p:regular r:id="rId15"/>
    </p:embeddedFont>
    <p:embeddedFont>
      <p:font typeface="Arimo Bold" panose="020B0604020202020204" charset="0"/>
      <p:regular r:id="rId16"/>
    </p:embeddedFont>
    <p:embeddedFont>
      <p:font typeface="Montserrat" panose="020F0502020204030204" pitchFamily="2" charset="0"/>
      <p:regular r:id="rId17"/>
    </p:embeddedFont>
    <p:embeddedFont>
      <p:font typeface="Montserrat Bold" panose="020B0604020202020204" charset="0"/>
      <p:regular r:id="rId18"/>
    </p:embeddedFont>
    <p:embeddedFont>
      <p:font typeface="Open Sa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40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100000">
            <a:off x="13519823" y="332277"/>
            <a:ext cx="5837977" cy="18849595"/>
          </a:xfrm>
          <a:custGeom>
            <a:avLst/>
            <a:gdLst/>
            <a:ahLst/>
            <a:cxnLst/>
            <a:rect l="l" t="t" r="r" b="b"/>
            <a:pathLst>
              <a:path w="5837977" h="18849595">
                <a:moveTo>
                  <a:pt x="0" y="0"/>
                </a:moveTo>
                <a:lnTo>
                  <a:pt x="5837977" y="0"/>
                </a:lnTo>
                <a:lnTo>
                  <a:pt x="5837977" y="18849595"/>
                </a:lnTo>
                <a:lnTo>
                  <a:pt x="0" y="18849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b="-52994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 rot="-10800000">
            <a:off x="8362850" y="1028700"/>
            <a:ext cx="9999261" cy="9999261"/>
          </a:xfrm>
          <a:custGeom>
            <a:avLst/>
            <a:gdLst/>
            <a:ahLst/>
            <a:cxnLst/>
            <a:rect l="l" t="t" r="r" b="b"/>
            <a:pathLst>
              <a:path w="9999261" h="9999261">
                <a:moveTo>
                  <a:pt x="0" y="0"/>
                </a:moveTo>
                <a:lnTo>
                  <a:pt x="9999261" y="0"/>
                </a:lnTo>
                <a:lnTo>
                  <a:pt x="9999261" y="9999261"/>
                </a:lnTo>
                <a:lnTo>
                  <a:pt x="0" y="9999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AR"/>
          </a:p>
        </p:txBody>
      </p:sp>
      <p:sp>
        <p:nvSpPr>
          <p:cNvPr id="4" name="Freeform 4"/>
          <p:cNvSpPr/>
          <p:nvPr/>
        </p:nvSpPr>
        <p:spPr>
          <a:xfrm rot="2700000">
            <a:off x="521329" y="-3317944"/>
            <a:ext cx="2336254" cy="7543272"/>
          </a:xfrm>
          <a:custGeom>
            <a:avLst/>
            <a:gdLst/>
            <a:ahLst/>
            <a:cxnLst/>
            <a:rect l="l" t="t" r="r" b="b"/>
            <a:pathLst>
              <a:path w="2336254" h="7543272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b="-52994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5" name="Freeform 5"/>
          <p:cNvSpPr/>
          <p:nvPr/>
        </p:nvSpPr>
        <p:spPr>
          <a:xfrm rot="5400000">
            <a:off x="-434583" y="-7892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Box 6"/>
          <p:cNvSpPr txBox="1"/>
          <p:nvPr/>
        </p:nvSpPr>
        <p:spPr>
          <a:xfrm>
            <a:off x="1028700" y="3213361"/>
            <a:ext cx="9776086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74"/>
              </a:lnSpc>
            </a:pPr>
            <a:r>
              <a:rPr lang="en-US" sz="5062" b="1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Trabajo practico integrador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653149"/>
            <a:ext cx="13969008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79"/>
              </a:lnSpc>
            </a:pPr>
            <a:r>
              <a:rPr lang="en-US" sz="8483" b="1" spc="279">
                <a:solidFill>
                  <a:srgbClr val="051D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INGLES 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3894" y="6573335"/>
            <a:ext cx="9054400" cy="1050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012" b="1" spc="135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TECNICATURA UNIVERSITARIA EN PROGRAMACION - UTN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3894" y="7770898"/>
            <a:ext cx="9054400" cy="1585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3012" b="1" spc="135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MONTENEGRO, SERGIO ANDRES</a:t>
            </a:r>
          </a:p>
          <a:p>
            <a:pPr algn="l">
              <a:lnSpc>
                <a:spcPts val="4218"/>
              </a:lnSpc>
            </a:pPr>
            <a:r>
              <a:rPr lang="en-US" sz="3012" b="1" spc="135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MIGUEL, ESTEBAN DANIEL</a:t>
            </a:r>
          </a:p>
          <a:p>
            <a:pPr algn="l">
              <a:lnSpc>
                <a:spcPts val="4218"/>
              </a:lnSpc>
            </a:pPr>
            <a:r>
              <a:rPr lang="en-US" sz="3012" b="1" spc="135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PACE, SANTIAGO JULIAN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0934" y="-2057400"/>
            <a:ext cx="19917660" cy="3086100"/>
            <a:chOff x="0" y="0"/>
            <a:chExt cx="524580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0028" y="9258300"/>
            <a:ext cx="19917660" cy="3086100"/>
            <a:chOff x="0" y="0"/>
            <a:chExt cx="524580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733509" y="-1612398"/>
            <a:ext cx="6449593" cy="3224796"/>
            <a:chOff x="0" y="0"/>
            <a:chExt cx="812800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2882374" y="5940584"/>
            <a:ext cx="2545044" cy="2914203"/>
          </a:xfrm>
          <a:custGeom>
            <a:avLst/>
            <a:gdLst/>
            <a:ahLst/>
            <a:cxnLst/>
            <a:rect l="l" t="t" r="r" b="b"/>
            <a:pathLst>
              <a:path w="2545044" h="2914203">
                <a:moveTo>
                  <a:pt x="0" y="0"/>
                </a:moveTo>
                <a:lnTo>
                  <a:pt x="2545044" y="0"/>
                </a:lnTo>
                <a:lnTo>
                  <a:pt x="2545044" y="2914203"/>
                </a:lnTo>
                <a:lnTo>
                  <a:pt x="0" y="2914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59" b="-11545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5" name="Freeform 15"/>
          <p:cNvSpPr/>
          <p:nvPr/>
        </p:nvSpPr>
        <p:spPr>
          <a:xfrm>
            <a:off x="7284049" y="5900025"/>
            <a:ext cx="2549152" cy="2954762"/>
          </a:xfrm>
          <a:custGeom>
            <a:avLst/>
            <a:gdLst/>
            <a:ahLst/>
            <a:cxnLst/>
            <a:rect l="l" t="t" r="r" b="b"/>
            <a:pathLst>
              <a:path w="2549152" h="2954762">
                <a:moveTo>
                  <a:pt x="0" y="0"/>
                </a:moveTo>
                <a:lnTo>
                  <a:pt x="2549153" y="0"/>
                </a:lnTo>
                <a:lnTo>
                  <a:pt x="2549153" y="2954762"/>
                </a:lnTo>
                <a:lnTo>
                  <a:pt x="0" y="2954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555" r="-22935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6" name="Freeform 16"/>
          <p:cNvSpPr/>
          <p:nvPr/>
        </p:nvSpPr>
        <p:spPr>
          <a:xfrm>
            <a:off x="11911059" y="5730679"/>
            <a:ext cx="2524795" cy="3124108"/>
          </a:xfrm>
          <a:custGeom>
            <a:avLst/>
            <a:gdLst/>
            <a:ahLst/>
            <a:cxnLst/>
            <a:rect l="l" t="t" r="r" b="b"/>
            <a:pathLst>
              <a:path w="2524795" h="3124108">
                <a:moveTo>
                  <a:pt x="0" y="0"/>
                </a:moveTo>
                <a:lnTo>
                  <a:pt x="2524795" y="0"/>
                </a:lnTo>
                <a:lnTo>
                  <a:pt x="2524795" y="3124108"/>
                </a:lnTo>
                <a:lnTo>
                  <a:pt x="0" y="3124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426" b="-5779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7" name="TextBox 17"/>
          <p:cNvSpPr txBox="1"/>
          <p:nvPr/>
        </p:nvSpPr>
        <p:spPr>
          <a:xfrm>
            <a:off x="1923932" y="1472136"/>
            <a:ext cx="15029739" cy="153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3"/>
              </a:lnSpc>
            </a:pPr>
            <a:r>
              <a:rPr lang="en-US" sz="5078" b="1" spc="18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TASK: Group Video Interview</a:t>
            </a:r>
          </a:p>
          <a:p>
            <a:pPr marL="0" lvl="0" indent="0" algn="l">
              <a:lnSpc>
                <a:spcPts val="6093"/>
              </a:lnSpc>
              <a:spcBef>
                <a:spcPct val="0"/>
              </a:spcBef>
            </a:pPr>
            <a:endParaRPr lang="en-US" sz="5078" b="1" spc="182">
              <a:solidFill>
                <a:srgbClr val="2A2E3A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034546" y="3828336"/>
            <a:ext cx="4240701" cy="1886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1"/>
              </a:lnSpc>
            </a:pPr>
            <a:r>
              <a:rPr lang="en-US" sz="2179" b="1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INTERVIEWER</a:t>
            </a:r>
          </a:p>
          <a:p>
            <a:pPr algn="ctr">
              <a:lnSpc>
                <a:spcPts val="3051"/>
              </a:lnSpc>
            </a:pPr>
            <a:r>
              <a:rPr lang="en-US" sz="2179" b="1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SERGIO ANDRES MONTENEGRO</a:t>
            </a:r>
          </a:p>
          <a:p>
            <a:pPr marL="0" lvl="0" indent="0" algn="ctr">
              <a:lnSpc>
                <a:spcPts val="3051"/>
              </a:lnSpc>
              <a:spcBef>
                <a:spcPct val="0"/>
              </a:spcBef>
            </a:pPr>
            <a:r>
              <a:rPr lang="en-US" sz="2179" b="1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COMISION 17 - REGIONAL LA PLATA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38275" y="3772163"/>
            <a:ext cx="4240701" cy="15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1"/>
              </a:lnSpc>
            </a:pPr>
            <a:r>
              <a:rPr lang="en-US" sz="2179" b="1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SCRUM MASTER</a:t>
            </a:r>
          </a:p>
          <a:p>
            <a:pPr algn="ctr">
              <a:lnSpc>
                <a:spcPts val="3051"/>
              </a:lnSpc>
            </a:pPr>
            <a:r>
              <a:rPr lang="en-US" sz="2179" b="1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SANTIAGO JULIAN PACE</a:t>
            </a:r>
          </a:p>
          <a:p>
            <a:pPr marL="0" lvl="0" indent="0" algn="ctr">
              <a:lnSpc>
                <a:spcPts val="3051"/>
              </a:lnSpc>
              <a:spcBef>
                <a:spcPct val="0"/>
              </a:spcBef>
            </a:pPr>
            <a:r>
              <a:rPr lang="en-US" sz="2179" b="1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COMISION 18 - REGIONAL ROSARIO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95323" y="3772163"/>
            <a:ext cx="4240701" cy="1886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1"/>
              </a:lnSpc>
            </a:pPr>
            <a:r>
              <a:rPr lang="en-US" sz="2179" b="1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OWNER</a:t>
            </a:r>
          </a:p>
          <a:p>
            <a:pPr algn="ctr">
              <a:lnSpc>
                <a:spcPts val="3051"/>
              </a:lnSpc>
            </a:pPr>
            <a:r>
              <a:rPr lang="en-US" sz="2179" b="1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ESTEBAN DANIEL MIGUEL</a:t>
            </a:r>
          </a:p>
          <a:p>
            <a:pPr algn="ctr">
              <a:lnSpc>
                <a:spcPts val="3051"/>
              </a:lnSpc>
            </a:pPr>
            <a:r>
              <a:rPr lang="en-US" sz="2179" b="1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COMISION 17 - REGIONAL RESISTENCIA</a:t>
            </a:r>
          </a:p>
          <a:p>
            <a:pPr marL="0" lvl="0" indent="0" algn="ctr">
              <a:lnSpc>
                <a:spcPts val="3051"/>
              </a:lnSpc>
              <a:spcBef>
                <a:spcPct val="0"/>
              </a:spcBef>
            </a:pPr>
            <a:endParaRPr lang="en-US" sz="2179" b="1" spc="98">
              <a:solidFill>
                <a:srgbClr val="2A2E3A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923932" y="2443170"/>
            <a:ext cx="14701569" cy="74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51"/>
              </a:lnSpc>
              <a:spcBef>
                <a:spcPct val="0"/>
              </a:spcBef>
            </a:pPr>
            <a:r>
              <a:rPr lang="en-US" sz="2179" b="1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PROJECT: CREATE A SCRUM TEAM TO IMPROVE SMARTCAMPUS, A MOBILE APPLICATION FOR COMMUNICATION BETWEEN STUDENTS AND TEACHERS.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0934" y="-2057400"/>
            <a:ext cx="19917660" cy="3086100"/>
            <a:chOff x="0" y="0"/>
            <a:chExt cx="524580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0028" y="9258300"/>
            <a:ext cx="19917660" cy="3086100"/>
            <a:chOff x="0" y="0"/>
            <a:chExt cx="524580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733509" y="-1612398"/>
            <a:ext cx="6449593" cy="3224796"/>
            <a:chOff x="0" y="0"/>
            <a:chExt cx="812800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6280196" y="2249882"/>
            <a:ext cx="4975400" cy="5787237"/>
          </a:xfrm>
          <a:custGeom>
            <a:avLst/>
            <a:gdLst/>
            <a:ahLst/>
            <a:cxnLst/>
            <a:rect l="l" t="t" r="r" b="b"/>
            <a:pathLst>
              <a:path w="4975400" h="5787237">
                <a:moveTo>
                  <a:pt x="0" y="0"/>
                </a:moveTo>
                <a:lnTo>
                  <a:pt x="4975400" y="0"/>
                </a:lnTo>
                <a:lnTo>
                  <a:pt x="4975400" y="5787236"/>
                </a:lnTo>
                <a:lnTo>
                  <a:pt x="0" y="57872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15" name="TextBox 15"/>
          <p:cNvSpPr txBox="1"/>
          <p:nvPr/>
        </p:nvSpPr>
        <p:spPr>
          <a:xfrm>
            <a:off x="1560129" y="2149949"/>
            <a:ext cx="3695551" cy="1111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867150"/>
            <a:ext cx="16278090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173"/>
              </a:lnSpc>
              <a:spcBef>
                <a:spcPct val="0"/>
              </a:spcBef>
            </a:pPr>
            <a:r>
              <a:rPr lang="en-US" sz="8477" b="1" spc="305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PROFESSIONAL PROFILE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190934" y="-2057400"/>
            <a:ext cx="19917660" cy="3086100"/>
            <a:chOff x="0" y="0"/>
            <a:chExt cx="524580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0028" y="9258300"/>
            <a:ext cx="19917660" cy="3086100"/>
            <a:chOff x="0" y="0"/>
            <a:chExt cx="5245803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733509" y="-1612398"/>
            <a:ext cx="6449593" cy="3224796"/>
            <a:chOff x="0" y="0"/>
            <a:chExt cx="81280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1800" y="1869474"/>
            <a:ext cx="1502973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678" b="1" spc="13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INTERVIEWER: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190934" y="-2057400"/>
            <a:ext cx="19917660" cy="3086100"/>
            <a:chOff x="0" y="0"/>
            <a:chExt cx="524580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45684" y="4046330"/>
            <a:ext cx="8629964" cy="417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3"/>
              </a:lnSpc>
            </a:pPr>
            <a:endParaRPr/>
          </a:p>
          <a:p>
            <a:pPr algn="just">
              <a:lnSpc>
                <a:spcPts val="3053"/>
              </a:lnSpc>
            </a:pPr>
            <a:r>
              <a:rPr lang="en-US" sz="2181" b="1" u="none" strike="noStrike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Skills: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In-depth knowledge of the IT sector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Proficiency in digital recruitment tools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Metrics and KPI management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Employer branding and talent marketing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Clear and empathetic communication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Negotiation and expectation management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Leadership of recruitment teams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Adaptability and critical thinking</a:t>
            </a:r>
          </a:p>
          <a:p>
            <a:pPr marL="0" lvl="0" indent="0" algn="ctr">
              <a:lnSpc>
                <a:spcPts val="3053"/>
              </a:lnSpc>
              <a:spcBef>
                <a:spcPct val="0"/>
              </a:spcBef>
            </a:pPr>
            <a:endParaRPr lang="en-US" sz="2181" u="none" strike="noStrike" spc="98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-520028" y="9258300"/>
            <a:ext cx="19917660" cy="3086100"/>
            <a:chOff x="0" y="0"/>
            <a:chExt cx="5245803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733509" y="-1612398"/>
            <a:ext cx="6449593" cy="3224796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11800" y="3055730"/>
            <a:ext cx="1502973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678" b="1" spc="13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Sergio Andrés Montenegro, 45 years old. Head of HR. </a:t>
            </a:r>
          </a:p>
        </p:txBody>
      </p:sp>
      <p:sp>
        <p:nvSpPr>
          <p:cNvPr id="17" name="Freeform 17"/>
          <p:cNvSpPr/>
          <p:nvPr/>
        </p:nvSpPr>
        <p:spPr>
          <a:xfrm>
            <a:off x="11636635" y="4084430"/>
            <a:ext cx="3689693" cy="4224884"/>
          </a:xfrm>
          <a:custGeom>
            <a:avLst/>
            <a:gdLst/>
            <a:ahLst/>
            <a:cxnLst/>
            <a:rect l="l" t="t" r="r" b="b"/>
            <a:pathLst>
              <a:path w="3689693" h="4224884">
                <a:moveTo>
                  <a:pt x="0" y="0"/>
                </a:moveTo>
                <a:lnTo>
                  <a:pt x="3689693" y="0"/>
                </a:lnTo>
                <a:lnTo>
                  <a:pt x="3689693" y="4224884"/>
                </a:lnTo>
                <a:lnTo>
                  <a:pt x="0" y="4224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59" b="-11545"/>
            </a:stretch>
          </a:blipFill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1800" y="1869474"/>
            <a:ext cx="1502973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678" b="1" spc="13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SCRUM MASTER: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190934" y="-2057400"/>
            <a:ext cx="19917660" cy="3086100"/>
            <a:chOff x="0" y="0"/>
            <a:chExt cx="524580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11800" y="4327342"/>
            <a:ext cx="9530673" cy="4173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3"/>
              </a:lnSpc>
            </a:pPr>
            <a:r>
              <a:rPr lang="en-US" sz="2181" b="1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Skills: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Proficiency in t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cru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 fra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work a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 agile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ol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ogie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Agil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p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oje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management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Faci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it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ing 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Scrum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remo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ies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Removing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ts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Clear and empathetic communication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fli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ct management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om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ot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lf-org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niz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ati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Men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oring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and c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hing</a:t>
            </a:r>
          </a:p>
          <a:p>
            <a:pPr marL="0" lvl="0" indent="0" algn="ctr">
              <a:lnSpc>
                <a:spcPts val="3053"/>
              </a:lnSpc>
              <a:spcBef>
                <a:spcPct val="0"/>
              </a:spcBef>
            </a:pPr>
            <a:endParaRPr lang="en-US" sz="2181" spc="98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-520028" y="9258300"/>
            <a:ext cx="19917660" cy="3086100"/>
            <a:chOff x="0" y="0"/>
            <a:chExt cx="5245803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733509" y="-1612398"/>
            <a:ext cx="6449593" cy="3224796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11800" y="3055730"/>
            <a:ext cx="1502973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678" b="1" spc="13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Santiago Julian Pace, 26 years old. Software Engineering.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3384903" y="4446380"/>
            <a:ext cx="3224796" cy="3737911"/>
          </a:xfrm>
          <a:custGeom>
            <a:avLst/>
            <a:gdLst/>
            <a:ahLst/>
            <a:cxnLst/>
            <a:rect l="l" t="t" r="r" b="b"/>
            <a:pathLst>
              <a:path w="3224796" h="3737911">
                <a:moveTo>
                  <a:pt x="0" y="0"/>
                </a:moveTo>
                <a:lnTo>
                  <a:pt x="3224796" y="0"/>
                </a:lnTo>
                <a:lnTo>
                  <a:pt x="3224796" y="3737911"/>
                </a:lnTo>
                <a:lnTo>
                  <a:pt x="0" y="3737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555" r="-22935"/>
            </a:stretch>
          </a:blipFill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1800" y="1869474"/>
            <a:ext cx="15029739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678" b="1" spc="13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OWNER: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190934" y="-2057400"/>
            <a:ext cx="19917660" cy="3086100"/>
            <a:chOff x="0" y="0"/>
            <a:chExt cx="524580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11800" y="4408280"/>
            <a:ext cx="9530673" cy="493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3"/>
              </a:lnSpc>
            </a:pPr>
            <a:r>
              <a:rPr lang="en-US" sz="2181" b="1" spc="98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Skills: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Clear p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roduct vision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Backlog management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Customer and end-user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focus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Market and co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mpetit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or a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nalysis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Knowle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dge of agile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ol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ogie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(S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crum, Kanban)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Abi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ity to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w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rite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effe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ctive us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 stories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Basic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techn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ical und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erstan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ing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Clear and persuasive communication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Neg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ot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ia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tion and decisi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on-maki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Empathy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nd 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activ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 lis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ten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ing</a:t>
            </a:r>
          </a:p>
          <a:p>
            <a:pPr marL="470936" lvl="1" indent="-235468" algn="just">
              <a:lnSpc>
                <a:spcPts val="3053"/>
              </a:lnSpc>
              <a:buFont typeface="Arial"/>
              <a:buChar char="•"/>
            </a:pP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Le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adership with</a:t>
            </a:r>
            <a:r>
              <a:rPr lang="en-US" sz="2181" u="none" strike="noStrike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out form</a:t>
            </a:r>
            <a:r>
              <a:rPr lang="en-US" sz="2181" spc="98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al authority</a:t>
            </a:r>
          </a:p>
          <a:p>
            <a:pPr marL="0" lvl="0" indent="0" algn="ctr">
              <a:lnSpc>
                <a:spcPts val="3053"/>
              </a:lnSpc>
              <a:spcBef>
                <a:spcPct val="0"/>
              </a:spcBef>
            </a:pPr>
            <a:endParaRPr lang="en-US" sz="2181" spc="98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-520028" y="9258300"/>
            <a:ext cx="19917660" cy="3086100"/>
            <a:chOff x="0" y="0"/>
            <a:chExt cx="5245803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733509" y="-1612398"/>
            <a:ext cx="6449593" cy="3224796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11800" y="2779505"/>
            <a:ext cx="15029739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13"/>
              </a:lnSpc>
              <a:spcBef>
                <a:spcPct val="0"/>
              </a:spcBef>
            </a:pPr>
            <a:r>
              <a:rPr lang="en-US" sz="3678" b="1" spc="13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Esteban Daniel Miguel, 29 years old. Bachelor's degree in Information Systems.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985589" y="5009299"/>
            <a:ext cx="2524795" cy="3124108"/>
          </a:xfrm>
          <a:custGeom>
            <a:avLst/>
            <a:gdLst/>
            <a:ahLst/>
            <a:cxnLst/>
            <a:rect l="l" t="t" r="r" b="b"/>
            <a:pathLst>
              <a:path w="2524795" h="3124108">
                <a:moveTo>
                  <a:pt x="0" y="0"/>
                </a:moveTo>
                <a:lnTo>
                  <a:pt x="2524796" y="0"/>
                </a:lnTo>
                <a:lnTo>
                  <a:pt x="2524796" y="3124108"/>
                </a:lnTo>
                <a:lnTo>
                  <a:pt x="0" y="3124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426" b="-5779"/>
            </a:stretch>
          </a:blipFill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50483" y="1867042"/>
            <a:ext cx="15029739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3"/>
              </a:lnSpc>
            </a:pPr>
            <a:r>
              <a:rPr lang="en-US" sz="5078" b="1" spc="18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PROGRAMMING PROJECT</a:t>
            </a:r>
          </a:p>
          <a:p>
            <a:pPr algn="l">
              <a:lnSpc>
                <a:spcPts val="6093"/>
              </a:lnSpc>
            </a:pPr>
            <a:endParaRPr lang="en-US" sz="5078" b="1" spc="182">
              <a:solidFill>
                <a:srgbClr val="2A2E3A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0" lvl="0" indent="0" algn="l">
              <a:lnSpc>
                <a:spcPts val="6093"/>
              </a:lnSpc>
              <a:spcBef>
                <a:spcPct val="0"/>
              </a:spcBef>
            </a:pPr>
            <a:endParaRPr lang="en-US" sz="5078" b="1" spc="182">
              <a:solidFill>
                <a:srgbClr val="2A2E3A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-1190934" y="-2057400"/>
            <a:ext cx="19917660" cy="3086100"/>
            <a:chOff x="0" y="0"/>
            <a:chExt cx="524580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0028" y="9258300"/>
            <a:ext cx="19917660" cy="3086100"/>
            <a:chOff x="0" y="0"/>
            <a:chExt cx="5245803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733509" y="-1612398"/>
            <a:ext cx="6449593" cy="3224796"/>
            <a:chOff x="0" y="0"/>
            <a:chExt cx="81280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404958" y="4181617"/>
            <a:ext cx="15883042" cy="230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3"/>
              </a:lnSpc>
            </a:pPr>
            <a:r>
              <a:rPr lang="en-US" sz="5078" b="1" spc="18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Proyect: SmartCampus. </a:t>
            </a:r>
          </a:p>
          <a:p>
            <a:pPr algn="l">
              <a:lnSpc>
                <a:spcPts val="6093"/>
              </a:lnSpc>
            </a:pPr>
            <a:r>
              <a:rPr lang="en-US" sz="5078" b="1" spc="18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Objetives: Improvement in functionalities.</a:t>
            </a:r>
          </a:p>
          <a:p>
            <a:pPr marL="0" lvl="0" indent="0" algn="l">
              <a:lnSpc>
                <a:spcPts val="6093"/>
              </a:lnSpc>
              <a:spcBef>
                <a:spcPct val="0"/>
              </a:spcBef>
            </a:pPr>
            <a:endParaRPr lang="en-US" sz="5078" b="1" spc="182">
              <a:solidFill>
                <a:srgbClr val="2A2E3A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41997" y="1236161"/>
            <a:ext cx="1502973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93"/>
              </a:lnSpc>
              <a:spcBef>
                <a:spcPct val="0"/>
              </a:spcBef>
            </a:pPr>
            <a:r>
              <a:rPr lang="en-US" sz="5078" b="1" spc="18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TASK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190934" y="-2057400"/>
            <a:ext cx="19917660" cy="3086100"/>
            <a:chOff x="0" y="0"/>
            <a:chExt cx="524580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0028" y="9258300"/>
            <a:ext cx="19917660" cy="3086100"/>
            <a:chOff x="0" y="0"/>
            <a:chExt cx="5245803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733509" y="-1612398"/>
            <a:ext cx="6449593" cy="3224796"/>
            <a:chOff x="0" y="0"/>
            <a:chExt cx="81280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49454" y="2509231"/>
            <a:ext cx="7625167" cy="5097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89"/>
              </a:lnSpc>
            </a:pPr>
            <a:r>
              <a:rPr lang="en-US" sz="1849" b="1" spc="83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Owner Responsibilities:</a:t>
            </a:r>
          </a:p>
          <a:p>
            <a:pPr algn="just">
              <a:lnSpc>
                <a:spcPts val="2589"/>
              </a:lnSpc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The Product Owner focuses on defining what will be improved and why:</a:t>
            </a:r>
          </a:p>
          <a:p>
            <a:pPr algn="just">
              <a:lnSpc>
                <a:spcPts val="2589"/>
              </a:lnSpc>
            </a:pPr>
            <a:endParaRPr lang="en-US" sz="1849" spc="83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99387" lvl="1" indent="-199694" algn="just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Gather feedback from students, professors, and key users.</a:t>
            </a:r>
          </a:p>
          <a:p>
            <a:pPr marL="399387" lvl="1" indent="-199694" algn="just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Prioritize features in the Product Backlog (e.g., direct messaging, notifications, integration with the academic calendar).</a:t>
            </a:r>
          </a:p>
          <a:p>
            <a:pPr marL="399387" lvl="1" indent="-199694" algn="just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Write clear user stories with acceptance criteria.</a:t>
            </a:r>
          </a:p>
          <a:p>
            <a:pPr marL="399387" lvl="1" indent="-199694" algn="just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Validate that the improvements provide value to the end user.</a:t>
            </a:r>
          </a:p>
          <a:p>
            <a:pPr marL="399387" lvl="1" indent="-199694" algn="just">
              <a:lnSpc>
                <a:spcPts val="2589"/>
              </a:lnSpc>
              <a:buFont typeface="Arial"/>
              <a:buChar char="•"/>
            </a:pPr>
            <a:r>
              <a:rPr lang="en-US" sz="1849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Make quick decisions about changes, scope, and priorities during the sprint.</a:t>
            </a:r>
          </a:p>
          <a:p>
            <a:pPr algn="just">
              <a:lnSpc>
                <a:spcPts val="2589"/>
              </a:lnSpc>
            </a:pPr>
            <a:endParaRPr lang="en-US" sz="1849" spc="83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>
              <a:lnSpc>
                <a:spcPts val="2589"/>
              </a:lnSpc>
              <a:spcBef>
                <a:spcPct val="0"/>
              </a:spcBef>
            </a:pPr>
            <a:endParaRPr lang="en-US" sz="1849" spc="83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533613" y="2434735"/>
            <a:ext cx="7725687" cy="5172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7"/>
              </a:lnSpc>
            </a:pPr>
            <a:r>
              <a:rPr lang="en-US" sz="1862" b="1" spc="83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Scrum Master Responsibilities:</a:t>
            </a:r>
          </a:p>
          <a:p>
            <a:pPr algn="just">
              <a:lnSpc>
                <a:spcPts val="2607"/>
              </a:lnSpc>
            </a:pPr>
            <a:r>
              <a:rPr lang="en-US" sz="1862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The Scrum Master is responsible for facilitating the agile process and removing obstacles:</a:t>
            </a:r>
          </a:p>
          <a:p>
            <a:pPr algn="just">
              <a:lnSpc>
                <a:spcPts val="2607"/>
              </a:lnSpc>
            </a:pPr>
            <a:endParaRPr lang="en-US" sz="1862" spc="83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02175" lvl="1" indent="-201087" algn="just">
              <a:lnSpc>
                <a:spcPts val="2607"/>
              </a:lnSpc>
              <a:buFont typeface="Arial"/>
              <a:buChar char="•"/>
            </a:pPr>
            <a:r>
              <a:rPr lang="en-US" sz="1862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Organize Scrum ceremonies: Sprint Planning, Daily Stand-ups, Sprint Review, and Retrospective.</a:t>
            </a:r>
          </a:p>
          <a:p>
            <a:pPr marL="402175" lvl="1" indent="-201087" algn="just">
              <a:lnSpc>
                <a:spcPts val="2607"/>
              </a:lnSpc>
              <a:buFont typeface="Arial"/>
              <a:buChar char="•"/>
            </a:pPr>
            <a:r>
              <a:rPr lang="en-US" sz="1862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Ensure the team understands and applies Scrum correctly.</a:t>
            </a:r>
          </a:p>
          <a:p>
            <a:pPr marL="402175" lvl="1" indent="-201087" algn="just">
              <a:lnSpc>
                <a:spcPts val="2607"/>
              </a:lnSpc>
              <a:buFont typeface="Arial"/>
              <a:buChar char="•"/>
            </a:pPr>
            <a:r>
              <a:rPr lang="en-US" sz="1862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Remove technical or organizational impediments that hinder development.</a:t>
            </a:r>
          </a:p>
          <a:p>
            <a:pPr marL="402175" lvl="1" indent="-201087" algn="just">
              <a:lnSpc>
                <a:spcPts val="2607"/>
              </a:lnSpc>
              <a:buFont typeface="Arial"/>
              <a:buChar char="•"/>
            </a:pPr>
            <a:r>
              <a:rPr lang="en-US" sz="1862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Foster collaboration among developers, testers, and the Product Owner.</a:t>
            </a:r>
          </a:p>
          <a:p>
            <a:pPr marL="402175" lvl="1" indent="-201087" algn="just">
              <a:lnSpc>
                <a:spcPts val="2607"/>
              </a:lnSpc>
              <a:buFont typeface="Arial"/>
              <a:buChar char="•"/>
            </a:pPr>
            <a:r>
              <a:rPr lang="en-US" sz="1862" spc="83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Promote continuous improvement in each iteration. </a:t>
            </a:r>
          </a:p>
          <a:p>
            <a:pPr algn="just">
              <a:lnSpc>
                <a:spcPts val="2607"/>
              </a:lnSpc>
            </a:pPr>
            <a:endParaRPr lang="en-US" sz="1862" spc="83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2607"/>
              </a:lnSpc>
            </a:pPr>
            <a:endParaRPr lang="en-US" sz="1862" spc="83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>
              <a:lnSpc>
                <a:spcPts val="2607"/>
              </a:lnSpc>
              <a:spcBef>
                <a:spcPct val="0"/>
              </a:spcBef>
            </a:pPr>
            <a:endParaRPr lang="en-US" sz="1862" spc="83">
              <a:solidFill>
                <a:srgbClr val="2A2E3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57090" y="1236161"/>
            <a:ext cx="1502973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93"/>
              </a:lnSpc>
              <a:spcBef>
                <a:spcPct val="0"/>
              </a:spcBef>
            </a:pPr>
            <a:r>
              <a:rPr lang="en-US" sz="5078" b="1" spc="18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SPRINT DURATION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190934" y="-2057400"/>
            <a:ext cx="19917660" cy="3086100"/>
            <a:chOff x="0" y="0"/>
            <a:chExt cx="524580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20028" y="9258300"/>
            <a:ext cx="19917660" cy="3086100"/>
            <a:chOff x="0" y="0"/>
            <a:chExt cx="5245803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2733509" y="-1612398"/>
            <a:ext cx="6449593" cy="3224796"/>
            <a:chOff x="0" y="0"/>
            <a:chExt cx="81280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04168" y="2559532"/>
            <a:ext cx="16900891" cy="5511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09"/>
              </a:lnSpc>
            </a:pPr>
            <a:r>
              <a:rPr lang="en-US" sz="3149" b="1" spc="14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Recommended duration: 2 weeks</a:t>
            </a:r>
          </a:p>
          <a:p>
            <a:pPr algn="just">
              <a:lnSpc>
                <a:spcPts val="4409"/>
              </a:lnSpc>
            </a:pPr>
            <a:r>
              <a:rPr lang="en-US" sz="3149" b="1" spc="14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allows for frequent improvements, rapid feedback, and course adjustments without sacrificing agility.</a:t>
            </a:r>
          </a:p>
          <a:p>
            <a:pPr algn="just">
              <a:lnSpc>
                <a:spcPts val="4409"/>
              </a:lnSpc>
            </a:pPr>
            <a:endParaRPr lang="en-US" sz="3149" b="1" spc="141">
              <a:solidFill>
                <a:srgbClr val="2A2E3A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just">
              <a:lnSpc>
                <a:spcPts val="4409"/>
              </a:lnSpc>
            </a:pPr>
            <a:r>
              <a:rPr lang="en-US" sz="3149" b="1" spc="14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Each sprint includes:</a:t>
            </a:r>
          </a:p>
          <a:p>
            <a:pPr algn="just">
              <a:lnSpc>
                <a:spcPts val="4409"/>
              </a:lnSpc>
            </a:pPr>
            <a:r>
              <a:rPr lang="en-US" sz="3149" b="1" spc="14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Task planning</a:t>
            </a:r>
          </a:p>
          <a:p>
            <a:pPr algn="just">
              <a:lnSpc>
                <a:spcPts val="4409"/>
              </a:lnSpc>
            </a:pPr>
            <a:r>
              <a:rPr lang="en-US" sz="3149" b="1" spc="14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Development and testing</a:t>
            </a:r>
          </a:p>
          <a:p>
            <a:pPr algn="just">
              <a:lnSpc>
                <a:spcPts val="4409"/>
              </a:lnSpc>
            </a:pPr>
            <a:r>
              <a:rPr lang="en-US" sz="3149" b="1" spc="14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Stakeholder review</a:t>
            </a:r>
          </a:p>
          <a:p>
            <a:pPr algn="just">
              <a:lnSpc>
                <a:spcPts val="4409"/>
              </a:lnSpc>
            </a:pPr>
            <a:r>
              <a:rPr lang="en-US" sz="3149" b="1" spc="141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Retrospective for process improvement</a:t>
            </a:r>
          </a:p>
          <a:p>
            <a:pPr marL="0" lvl="0" indent="0" algn="ctr">
              <a:lnSpc>
                <a:spcPts val="4409"/>
              </a:lnSpc>
              <a:spcBef>
                <a:spcPct val="0"/>
              </a:spcBef>
            </a:pPr>
            <a:endParaRPr lang="en-US" sz="3149" b="1" spc="141">
              <a:solidFill>
                <a:srgbClr val="2A2E3A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0934" y="-2057400"/>
            <a:ext cx="19917660" cy="3086100"/>
            <a:chOff x="0" y="0"/>
            <a:chExt cx="524580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0028" y="9258300"/>
            <a:ext cx="19917660" cy="3086100"/>
            <a:chOff x="0" y="0"/>
            <a:chExt cx="524580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733509" y="-1612398"/>
            <a:ext cx="6449593" cy="3224796"/>
            <a:chOff x="0" y="0"/>
            <a:chExt cx="812800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505678" y="1038225"/>
            <a:ext cx="1502973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93"/>
              </a:lnSpc>
              <a:spcBef>
                <a:spcPct val="0"/>
              </a:spcBef>
            </a:pPr>
            <a:r>
              <a:rPr lang="en-US" sz="5078" b="1" spc="18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349887"/>
            <a:ext cx="15821471" cy="1021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2A2E3A"/>
                </a:solidFill>
                <a:latin typeface="Arimo Bold"/>
                <a:ea typeface="Arimo Bold"/>
                <a:cs typeface="Arimo Bold"/>
                <a:sym typeface="Arimo Bold"/>
              </a:rPr>
              <a:t>Scrum Master Tools: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2A2E3A"/>
                </a:solidFill>
                <a:latin typeface="Arimo"/>
                <a:ea typeface="Arimo"/>
                <a:cs typeface="Arimo"/>
                <a:sym typeface="Arimo"/>
              </a:rPr>
              <a:t>These tools help facilitate the agile process, eliminate impediments, and improve team dynamics:</a:t>
            </a: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A0CD48CF-F069-EE50-00DF-6DD17236F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066942"/>
              </p:ext>
            </p:extLst>
          </p:nvPr>
        </p:nvGraphicFramePr>
        <p:xfrm>
          <a:off x="3750310" y="3760720"/>
          <a:ext cx="9737090" cy="50403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79090">
                  <a:extLst>
                    <a:ext uri="{9D8B030D-6E8A-4147-A177-3AD203B41FA5}">
                      <a16:colId xmlns:a16="http://schemas.microsoft.com/office/drawing/2014/main" val="3671941677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520260319"/>
                    </a:ext>
                  </a:extLst>
                </a:gridCol>
              </a:tblGrid>
              <a:tr h="3810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Tools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Main purpose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8908547"/>
                  </a:ext>
                </a:extLst>
              </a:tr>
              <a:tr h="7765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Jira / Azure DevOps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Sprint management, Kanban boards, task tracking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8341736"/>
                  </a:ext>
                </a:extLst>
              </a:tr>
              <a:tr h="7765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Miro / Mural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Retrospectives, collaborative dynamics, flowcharts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8255254"/>
                  </a:ext>
                </a:extLst>
              </a:tr>
              <a:tr h="7765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Slack / Microsoft Teams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Fast communication, integration with management tools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1268610"/>
                  </a:ext>
                </a:extLst>
              </a:tr>
              <a:tr h="7765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Confluence / Notion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Documentation of processes, agreements, retrospectives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0761527"/>
                  </a:ext>
                </a:extLst>
              </a:tr>
              <a:tr h="7765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Trello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Simple visual boards for small or educational teams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3168073"/>
                  </a:ext>
                </a:extLst>
              </a:tr>
              <a:tr h="7765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Google Meet / Zoom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 dirty="0" err="1">
                          <a:effectLst/>
                        </a:rPr>
                        <a:t>Facilitating</a:t>
                      </a:r>
                      <a:r>
                        <a:rPr lang="es-AR" sz="2400" dirty="0">
                          <a:effectLst/>
                        </a:rPr>
                        <a:t> Scrum </a:t>
                      </a:r>
                      <a:r>
                        <a:rPr lang="es-AR" sz="2400" dirty="0" err="1">
                          <a:effectLst/>
                        </a:rPr>
                        <a:t>ceremonies</a:t>
                      </a:r>
                      <a:r>
                        <a:rPr lang="es-AR" sz="2400" dirty="0">
                          <a:effectLst/>
                        </a:rPr>
                        <a:t> (</a:t>
                      </a:r>
                      <a:r>
                        <a:rPr lang="es-AR" sz="2400" dirty="0" err="1">
                          <a:effectLst/>
                        </a:rPr>
                        <a:t>Daily</a:t>
                      </a:r>
                      <a:r>
                        <a:rPr lang="es-AR" sz="2400" dirty="0">
                          <a:effectLst/>
                        </a:rPr>
                        <a:t>, </a:t>
                      </a:r>
                      <a:r>
                        <a:rPr lang="es-AR" sz="2400" dirty="0" err="1">
                          <a:effectLst/>
                        </a:rPr>
                        <a:t>Planning</a:t>
                      </a:r>
                      <a:r>
                        <a:rPr lang="es-AR" sz="2400" dirty="0">
                          <a:effectLst/>
                        </a:rPr>
                        <a:t>, </a:t>
                      </a:r>
                      <a:r>
                        <a:rPr lang="es-AR" sz="2400" dirty="0" err="1">
                          <a:effectLst/>
                        </a:rPr>
                        <a:t>Review</a:t>
                      </a:r>
                      <a:r>
                        <a:rPr lang="es-AR" sz="2400" dirty="0">
                          <a:effectLst/>
                        </a:rPr>
                        <a:t>)</a:t>
                      </a:r>
                      <a:endParaRPr lang="es-AR" sz="2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07445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0934" y="-2057400"/>
            <a:ext cx="19917660" cy="3086100"/>
            <a:chOff x="0" y="0"/>
            <a:chExt cx="524580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0028" y="9258300"/>
            <a:ext cx="19917660" cy="3086100"/>
            <a:chOff x="0" y="0"/>
            <a:chExt cx="524580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733509" y="-1612398"/>
            <a:ext cx="6449593" cy="3224796"/>
            <a:chOff x="0" y="0"/>
            <a:chExt cx="812800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505678" y="1038225"/>
            <a:ext cx="1502973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93"/>
              </a:lnSpc>
              <a:spcBef>
                <a:spcPct val="0"/>
              </a:spcBef>
            </a:pPr>
            <a:r>
              <a:rPr lang="en-US" sz="5078" b="1" spc="18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349887"/>
            <a:ext cx="14410581" cy="1536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2A2E3A"/>
                </a:solidFill>
                <a:latin typeface="Arimo Bold"/>
                <a:ea typeface="Arimo Bold"/>
                <a:cs typeface="Arimo Bold"/>
                <a:sym typeface="Arimo Bold"/>
              </a:rPr>
              <a:t>Product Owner Tools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2A2E3A"/>
                </a:solidFill>
                <a:latin typeface="Arimo"/>
                <a:ea typeface="Arimo"/>
                <a:cs typeface="Arimo"/>
                <a:sym typeface="Arimo"/>
              </a:rPr>
              <a:t>These tools help manage the backlog, prioritize features, and connect with stakeholders: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2899">
              <a:solidFill>
                <a:srgbClr val="2A2E3A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DFC49181-A278-07D3-FC83-4DC43C013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405469"/>
              </p:ext>
            </p:extLst>
          </p:nvPr>
        </p:nvGraphicFramePr>
        <p:xfrm>
          <a:off x="3716083" y="3749395"/>
          <a:ext cx="9194460" cy="54579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84717">
                  <a:extLst>
                    <a:ext uri="{9D8B030D-6E8A-4147-A177-3AD203B41FA5}">
                      <a16:colId xmlns:a16="http://schemas.microsoft.com/office/drawing/2014/main" val="4287806833"/>
                    </a:ext>
                  </a:extLst>
                </a:gridCol>
                <a:gridCol w="6509743">
                  <a:extLst>
                    <a:ext uri="{9D8B030D-6E8A-4147-A177-3AD203B41FA5}">
                      <a16:colId xmlns:a16="http://schemas.microsoft.com/office/drawing/2014/main" val="1615016953"/>
                    </a:ext>
                  </a:extLst>
                </a:gridCol>
              </a:tblGrid>
              <a:tr h="5145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Tools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Main purpose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3921736"/>
                  </a:ext>
                </a:extLst>
              </a:tr>
              <a:tr h="514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Jira / Azure DevOps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Product Backlog Management, User Stories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4325092"/>
                  </a:ext>
                </a:extLst>
              </a:tr>
              <a:tr h="1048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Figma / Adobe XD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Prototypes of new functionalities, visual validation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4191954"/>
                  </a:ext>
                </a:extLst>
              </a:tr>
              <a:tr h="1048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Google Forms / Typeform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Collection of user feedback (students and teachers)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2103407"/>
                  </a:ext>
                </a:extLst>
              </a:tr>
              <a:tr h="514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Productboard / Aha!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Product roadmap, value-based prioritization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887934"/>
                  </a:ext>
                </a:extLst>
              </a:tr>
              <a:tr h="5145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Excel / Airtable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Prioritization matrices, impact analysis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2103273"/>
                  </a:ext>
                </a:extLst>
              </a:tr>
              <a:tr h="10486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>
                          <a:effectLst/>
                        </a:rPr>
                        <a:t>Power BI / Looker</a:t>
                      </a:r>
                      <a:endParaRPr lang="es-AR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AR" sz="2400" dirty="0" err="1">
                          <a:effectLst/>
                        </a:rPr>
                        <a:t>Visualization</a:t>
                      </a:r>
                      <a:r>
                        <a:rPr lang="es-AR" sz="2400" dirty="0">
                          <a:effectLst/>
                        </a:rPr>
                        <a:t> </a:t>
                      </a:r>
                      <a:r>
                        <a:rPr lang="es-AR" sz="2400" dirty="0" err="1">
                          <a:effectLst/>
                        </a:rPr>
                        <a:t>of</a:t>
                      </a:r>
                      <a:r>
                        <a:rPr lang="es-AR" sz="2400" dirty="0">
                          <a:effectLst/>
                        </a:rPr>
                        <a:t> </a:t>
                      </a:r>
                      <a:r>
                        <a:rPr lang="es-AR" sz="2400" dirty="0" err="1">
                          <a:effectLst/>
                        </a:rPr>
                        <a:t>usage</a:t>
                      </a:r>
                      <a:r>
                        <a:rPr lang="es-AR" sz="2400" dirty="0">
                          <a:effectLst/>
                        </a:rPr>
                        <a:t> and </a:t>
                      </a:r>
                      <a:r>
                        <a:rPr lang="es-AR" sz="2400" dirty="0" err="1">
                          <a:effectLst/>
                        </a:rPr>
                        <a:t>satisfaction</a:t>
                      </a:r>
                      <a:r>
                        <a:rPr lang="es-AR" sz="2400" dirty="0">
                          <a:effectLst/>
                        </a:rPr>
                        <a:t> </a:t>
                      </a:r>
                      <a:r>
                        <a:rPr lang="es-AR" sz="2400" dirty="0" err="1">
                          <a:effectLst/>
                        </a:rPr>
                        <a:t>metrics</a:t>
                      </a:r>
                      <a:endParaRPr lang="es-AR" sz="2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91034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0934" y="-2057400"/>
            <a:ext cx="19917660" cy="3086100"/>
            <a:chOff x="0" y="0"/>
            <a:chExt cx="524580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0028" y="9258300"/>
            <a:ext cx="19917660" cy="3086100"/>
            <a:chOff x="0" y="0"/>
            <a:chExt cx="524580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52A47"/>
            </a:solidFill>
          </p:spPr>
          <p:txBody>
            <a:bodyPr/>
            <a:lstStyle/>
            <a:p>
              <a:endParaRPr lang="es-A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13716743" y="8698748"/>
            <a:ext cx="6449593" cy="3224796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733509" y="-1612398"/>
            <a:ext cx="6449593" cy="3224796"/>
            <a:chOff x="0" y="0"/>
            <a:chExt cx="812800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A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505678" y="1038225"/>
            <a:ext cx="15029739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93"/>
              </a:lnSpc>
              <a:spcBef>
                <a:spcPct val="0"/>
              </a:spcBef>
            </a:pPr>
            <a:r>
              <a:rPr lang="en-US" sz="5078" b="1" spc="182">
                <a:solidFill>
                  <a:srgbClr val="2A2E3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1738" y="3320991"/>
            <a:ext cx="15223629" cy="299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2A2E3A"/>
                </a:solidFill>
                <a:latin typeface="Arimo Bold"/>
                <a:ea typeface="Arimo Bold"/>
                <a:cs typeface="Arimo Bold"/>
                <a:sym typeface="Arimo Bold"/>
              </a:rPr>
              <a:t>Shared tools for validation and testing: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2A2E3A"/>
                </a:solidFill>
                <a:latin typeface="Arimo"/>
                <a:ea typeface="Arimo"/>
                <a:cs typeface="Arimo"/>
                <a:sym typeface="Arimo"/>
              </a:rPr>
              <a:t>• Firebase / Postman / Swagger: for validating APIs and backend functionalities.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2A2E3A"/>
                </a:solidFill>
                <a:latin typeface="Arimo"/>
                <a:ea typeface="Arimo"/>
                <a:cs typeface="Arimo"/>
                <a:sym typeface="Arimo"/>
              </a:rPr>
              <a:t>• TestFlight / Android Studio: for testing beta versions of the app.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2A2E3A"/>
                </a:solidFill>
                <a:latin typeface="Arimo"/>
                <a:ea typeface="Arimo"/>
                <a:cs typeface="Arimo"/>
                <a:sym typeface="Arimo"/>
              </a:rPr>
              <a:t>• UserTesting / Hotjar: for observing how users interact with the app.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2A2E3A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674</Words>
  <Application>Microsoft Office PowerPoint</Application>
  <PresentationFormat>Personalizado</PresentationFormat>
  <Paragraphs>125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Calibri</vt:lpstr>
      <vt:lpstr>Montserrat Bold</vt:lpstr>
      <vt:lpstr>Aptos</vt:lpstr>
      <vt:lpstr>Arial</vt:lpstr>
      <vt:lpstr>Open Sans Bold</vt:lpstr>
      <vt:lpstr>Montserrat</vt:lpstr>
      <vt:lpstr>Arimo</vt:lpstr>
      <vt:lpstr>Arimo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Ingles</dc:title>
  <cp:lastModifiedBy>Sergio Andres Montenegro</cp:lastModifiedBy>
  <cp:revision>2</cp:revision>
  <dcterms:created xsi:type="dcterms:W3CDTF">2006-08-16T00:00:00Z</dcterms:created>
  <dcterms:modified xsi:type="dcterms:W3CDTF">2025-11-08T19:34:28Z</dcterms:modified>
  <dc:identifier>DAG4IAGn15w</dc:identifier>
</cp:coreProperties>
</file>